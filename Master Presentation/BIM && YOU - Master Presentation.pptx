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Inter SemiBold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  <p:embeddedFont>
      <p:font typeface="Inter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InterExtraBold-boldItalic.fntdata"/><Relationship Id="rId13" Type="http://schemas.openxmlformats.org/officeDocument/2006/relationships/font" Target="fonts/InterSemiBold-bold.fntdata"/><Relationship Id="rId12" Type="http://schemas.openxmlformats.org/officeDocument/2006/relationships/font" Target="fonts/Inter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boldItalic.fntdata"/><Relationship Id="rId14" Type="http://schemas.openxmlformats.org/officeDocument/2006/relationships/font" Target="fonts/InterSemiBold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-boldItalic.fntdata"/><Relationship Id="rId6" Type="http://schemas.openxmlformats.org/officeDocument/2006/relationships/slide" Target="slides/slide1.xml"/><Relationship Id="rId18" Type="http://schemas.openxmlformats.org/officeDocument/2006/relationships/font" Target="fonts/Inter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700575" y="2562225"/>
            <a:ext cx="6790848" cy="923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BIM </a:t>
            </a:r>
            <a:r>
              <a:rPr b="0" i="0" lang="en-US" sz="6000" u="none" cap="none" strike="noStrike">
                <a:solidFill>
                  <a:srgbClr val="0696D7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&amp;&amp;</a:t>
            </a:r>
            <a:r>
              <a:rPr b="0" i="0" lang="en-US" sz="60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YOU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459249" y="3695975"/>
            <a:ext cx="7273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Episode </a:t>
            </a:r>
            <a:r>
              <a:rPr lang="en-US" sz="2250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2250" u="none" cap="none" strike="noStrike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en-US" sz="2250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DEEP PURGE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866775" y="1952625"/>
            <a:ext cx="49911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Tedious Repetition:</a:t>
            </a: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Manually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purging every model you open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66775" y="3448050"/>
            <a:ext cx="49911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Wasted Processing Time:</a:t>
            </a: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doing the same process 3+ times 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866775" y="4629150"/>
            <a:ext cx="49911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Human Error:</a:t>
            </a: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Manually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purging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every model will lead to some being missed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81025" y="1971675"/>
            <a:ext cx="95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81025" y="3467100"/>
            <a:ext cx="95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648200"/>
            <a:ext cx="95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696D7"/>
                </a:solidFill>
                <a:latin typeface="Inter"/>
                <a:ea typeface="Inter"/>
                <a:cs typeface="Inter"/>
                <a:sym typeface="Inter"/>
              </a:rPr>
              <a:t>■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581025"/>
            <a:ext cx="115815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75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The </a:t>
            </a:r>
            <a:r>
              <a:rPr b="0" i="0" lang="en-US" sz="3375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Daily </a:t>
            </a:r>
            <a:r>
              <a:rPr b="0" i="0" lang="en-US" sz="3375" u="none" cap="none" strike="noStrike">
                <a:solidFill>
                  <a:srgbClr val="0696D7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Bottleneck</a:t>
            </a:r>
            <a:endParaRPr/>
          </a:p>
        </p:txBody>
      </p:sp>
      <p:pic>
        <p:nvPicPr>
          <p:cNvPr id="99" name="Google Shape;9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0876" y="593712"/>
            <a:ext cx="4127174" cy="5670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4" name="Google Shape;10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914525"/>
            <a:ext cx="3422600" cy="393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4625" y="1914525"/>
            <a:ext cx="3422600" cy="393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88225" y="1914525"/>
            <a:ext cx="3422600" cy="393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876300" y="2990850"/>
            <a:ext cx="28320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1. 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Dynamo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Player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876300" y="3476625"/>
            <a:ext cx="2832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add a shortcut for it so it fires easily in the future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679900" y="2990850"/>
            <a:ext cx="2420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2. 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Run the script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679900" y="3476625"/>
            <a:ext cx="2832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simply click on the play button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483500" y="2990850"/>
            <a:ext cx="3060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3. 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Check the result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483500" y="3476625"/>
            <a:ext cx="2832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check atleast one revit model</a:t>
            </a:r>
            <a:endParaRPr/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6300" y="2324100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79900" y="23241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83500" y="232410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81025" y="581025"/>
            <a:ext cx="11581447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75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The VDC </a:t>
            </a:r>
            <a:r>
              <a:rPr b="0" i="0" lang="en-US" sz="3375" u="none" cap="none" strike="noStrike">
                <a:solidFill>
                  <a:srgbClr val="71C238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Workflow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2" name="Google Shape;12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81025" y="2971800"/>
            <a:ext cx="5277000" cy="17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>
                <a:solidFill>
                  <a:srgbClr val="71C238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99</a:t>
            </a:r>
            <a:r>
              <a:rPr b="0" i="0" lang="en-US" sz="11250" u="none" cap="none" strike="noStrike">
                <a:solidFill>
                  <a:srgbClr val="71C238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%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81025" y="4495800"/>
            <a:ext cx="5277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Less client complaint about non-purged models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6002620" y="2781300"/>
            <a:ext cx="6256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Focus on Coordination, Not 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Repetitive</a:t>
            </a:r>
            <a:r>
              <a:rPr lang="en-US" sz="225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Tasks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002620" y="3267075"/>
            <a:ext cx="5277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by simply hitting this run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button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in the dynamo player you do not have to worry about how long it will take to purge or how many times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581025" y="581025"/>
            <a:ext cx="11581447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75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Coordination </a:t>
            </a:r>
            <a:r>
              <a:rPr b="0" i="0" lang="en-US" sz="3375" u="none" cap="none" strike="noStrike">
                <a:solidFill>
                  <a:srgbClr val="0696D7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Impact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2" name="Google Shape;13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" y="2122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/>
        </p:nvSpPr>
        <p:spPr>
          <a:xfrm>
            <a:off x="305276" y="2171700"/>
            <a:ext cx="11581447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25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Grab the </a:t>
            </a:r>
            <a:r>
              <a:rPr b="0" i="0" lang="en-US" sz="5250" u="none" cap="none" strike="noStrike">
                <a:solidFill>
                  <a:srgbClr val="71C238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Workflow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581025" y="3171825"/>
            <a:ext cx="11030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Download the Dynamo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script</a:t>
            </a: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and the </a:t>
            </a: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Presentation</a:t>
            </a:r>
            <a:r>
              <a:rPr b="0" i="0" lang="en-US" sz="1650" u="none" cap="none" strike="noStrike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 for this episode.</a:t>
            </a:r>
            <a:endParaRPr/>
          </a:p>
        </p:txBody>
      </p:sp>
      <p:pic>
        <p:nvPicPr>
          <p:cNvPr descr="image.png" id="135" name="Google Shape;13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8691" y="4255196"/>
            <a:ext cx="2190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69428" y="5065496"/>
            <a:ext cx="219075" cy="21853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4311607" y="5083266"/>
            <a:ext cx="5473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linkedin.com/in/arch-youssef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D21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2" name="Google Shape;14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8"/>
          <p:cNvSpPr txBox="1"/>
          <p:nvPr/>
        </p:nvSpPr>
        <p:spPr>
          <a:xfrm>
            <a:off x="2538349" y="1474981"/>
            <a:ext cx="82107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>
                <a:solidFill>
                  <a:srgbClr val="B5BAC1"/>
                </a:solidFill>
                <a:latin typeface="Inter"/>
                <a:ea typeface="Inter"/>
                <a:cs typeface="Inter"/>
                <a:sym typeface="Inter"/>
              </a:rPr>
              <a:t>https://blogger.googleusercontent.com/img/b/R29vZ2xl/AVvXsEgZ3CEJfFGx-RBsXaWCSPmBgs4QOrEhvMC1cEgGKAmlQSiueyUSmAmDMoXdFMD5UiEX1RyL7VAmYSS3O7Ea6HGvS3dwVaLWiSLkpgdO-tNsAYU255KHiA7gHLA7Vah5idxVA2dWB6t7dJyG/s1600/Im03.jpg</a:t>
            </a:r>
            <a:endParaRPr/>
          </a:p>
        </p:txBody>
      </p:sp>
      <p:sp>
        <p:nvSpPr>
          <p:cNvPr id="144" name="Google Shape;144;p18"/>
          <p:cNvSpPr txBox="1"/>
          <p:nvPr/>
        </p:nvSpPr>
        <p:spPr>
          <a:xfrm>
            <a:off x="581025" y="581025"/>
            <a:ext cx="11581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75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Sources</a:t>
            </a:r>
            <a:endParaRPr/>
          </a:p>
        </p:txBody>
      </p:sp>
      <p:pic>
        <p:nvPicPr>
          <p:cNvPr id="145" name="Google Shape;14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1705176" y="1474980"/>
            <a:ext cx="473774" cy="65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